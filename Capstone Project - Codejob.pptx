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aleway-italic.fntdata"/><Relationship Id="rId6" Type="http://schemas.openxmlformats.org/officeDocument/2006/relationships/slide" Target="slides/slide1.xml"/><Relationship Id="rId18"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703f09a21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703f09a21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703f09a219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703f09a219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703f09a219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703f09a219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703f09a21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703f09a21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703f09a219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703f09a219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703f09a219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703f09a219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703e768d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703e768d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d2539a91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d2539a91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d2539a912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d2539a912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d2539a912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d2539a912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drive.google.com/file/d/1kDwd3Yqk1D2V3j0IX-wiHyL5L3mjyhPB/view" TargetMode="External"/><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Capstone Project</a:t>
            </a:r>
            <a:endParaRPr/>
          </a:p>
        </p:txBody>
      </p:sp>
      <p:sp>
        <p:nvSpPr>
          <p:cNvPr id="87" name="Google Shape;87;p13"/>
          <p:cNvSpPr txBox="1"/>
          <p:nvPr>
            <p:ph idx="1" type="subTitle"/>
          </p:nvPr>
        </p:nvSpPr>
        <p:spPr>
          <a:xfrm>
            <a:off x="729450" y="2445950"/>
            <a:ext cx="7688100" cy="204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Codejob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Aalok Thakkar - Group Leader</a:t>
            </a:r>
            <a:endParaRPr/>
          </a:p>
          <a:p>
            <a:pPr indent="0" lvl="0" marL="0" rtl="0" algn="l">
              <a:spcBef>
                <a:spcPts val="0"/>
              </a:spcBef>
              <a:spcAft>
                <a:spcPts val="0"/>
              </a:spcAft>
              <a:buNone/>
            </a:pPr>
            <a:r>
              <a:rPr lang="en"/>
              <a:t>Bhagya Majithiya</a:t>
            </a:r>
            <a:endParaRPr/>
          </a:p>
          <a:p>
            <a:pPr indent="0" lvl="0" marL="0" rtl="0" algn="l">
              <a:spcBef>
                <a:spcPts val="0"/>
              </a:spcBef>
              <a:spcAft>
                <a:spcPts val="0"/>
              </a:spcAft>
              <a:buNone/>
            </a:pPr>
            <a:r>
              <a:rPr lang="en"/>
              <a:t>Farhan Ansari</a:t>
            </a:r>
            <a:endParaRPr/>
          </a:p>
          <a:p>
            <a:pPr indent="0" lvl="0" marL="0" rtl="0" algn="l">
              <a:spcBef>
                <a:spcPts val="0"/>
              </a:spcBef>
              <a:spcAft>
                <a:spcPts val="0"/>
              </a:spcAft>
              <a:buNone/>
            </a:pPr>
            <a:r>
              <a:rPr lang="en"/>
              <a:t>Rajan Chauhan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Develop a spell checker application that checks the spelling of words in a given text document, utilizing data structures like hash tables or trie for efficient dictionary storage and lookup. After highlighting the misspelled words, with the user’s approval, replace them with the correct spellings.</a:t>
            </a:r>
            <a:endParaRPr sz="1700"/>
          </a:p>
          <a:p>
            <a:pPr indent="0" lvl="0" marL="0" rtl="0" algn="l">
              <a:spcBef>
                <a:spcPts val="1200"/>
              </a:spcBef>
              <a:spcAft>
                <a:spcPts val="1200"/>
              </a:spcAft>
              <a:buNone/>
            </a:pPr>
            <a:r>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Algorithm</a:t>
            </a:r>
            <a:endParaRPr/>
          </a:p>
        </p:txBody>
      </p:sp>
      <p:sp>
        <p:nvSpPr>
          <p:cNvPr id="99" name="Google Shape;99;p15"/>
          <p:cNvSpPr txBox="1"/>
          <p:nvPr>
            <p:ph idx="1" type="body"/>
          </p:nvPr>
        </p:nvSpPr>
        <p:spPr>
          <a:xfrm>
            <a:off x="729450" y="2078875"/>
            <a:ext cx="7688700" cy="281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solution we present is based on the errors that may be present within a wrong spelling which </a:t>
            </a:r>
            <a:r>
              <a:rPr lang="en"/>
              <a:t>include</a:t>
            </a:r>
            <a:endParaRPr/>
          </a:p>
          <a:p>
            <a:pPr indent="-311150" lvl="0" marL="457200" rtl="0" algn="l">
              <a:spcBef>
                <a:spcPts val="1200"/>
              </a:spcBef>
              <a:spcAft>
                <a:spcPts val="0"/>
              </a:spcAft>
              <a:buSzPts val="1300"/>
              <a:buChar char="●"/>
            </a:pPr>
            <a:r>
              <a:rPr lang="en"/>
              <a:t>Missing character</a:t>
            </a:r>
            <a:endParaRPr/>
          </a:p>
          <a:p>
            <a:pPr indent="-311150" lvl="0" marL="457200" rtl="0" algn="l">
              <a:spcBef>
                <a:spcPts val="0"/>
              </a:spcBef>
              <a:spcAft>
                <a:spcPts val="0"/>
              </a:spcAft>
              <a:buSzPts val="1300"/>
              <a:buChar char="●"/>
            </a:pPr>
            <a:r>
              <a:rPr lang="en"/>
              <a:t>Extra character</a:t>
            </a:r>
            <a:endParaRPr/>
          </a:p>
          <a:p>
            <a:pPr indent="-311150" lvl="0" marL="457200" rtl="0" algn="l">
              <a:spcBef>
                <a:spcPts val="0"/>
              </a:spcBef>
              <a:spcAft>
                <a:spcPts val="0"/>
              </a:spcAft>
              <a:buSzPts val="1300"/>
              <a:buChar char="●"/>
            </a:pPr>
            <a:r>
              <a:rPr lang="en"/>
              <a:t>Exchanged character</a:t>
            </a:r>
            <a:endParaRPr/>
          </a:p>
          <a:p>
            <a:pPr indent="-311150" lvl="0" marL="457200" rtl="0" algn="l">
              <a:spcBef>
                <a:spcPts val="0"/>
              </a:spcBef>
              <a:spcAft>
                <a:spcPts val="0"/>
              </a:spcAft>
              <a:buSzPts val="1300"/>
              <a:buChar char="●"/>
            </a:pPr>
            <a:r>
              <a:rPr lang="en"/>
              <a:t>Incorrect </a:t>
            </a:r>
            <a:r>
              <a:rPr lang="en"/>
              <a:t>arrangement</a:t>
            </a:r>
            <a:endParaRPr/>
          </a:p>
          <a:p>
            <a:pPr indent="0" lvl="0" marL="0" rtl="0" algn="l">
              <a:spcBef>
                <a:spcPts val="1200"/>
              </a:spcBef>
              <a:spcAft>
                <a:spcPts val="0"/>
              </a:spcAft>
              <a:buNone/>
            </a:pPr>
            <a:r>
              <a:rPr lang="en"/>
              <a:t>We created functions to resolve each of these errors and stored the potential correct word within a list and let the user choose the correct word and make appropriate changes.</a:t>
            </a:r>
            <a:endParaRPr/>
          </a:p>
          <a:p>
            <a:pPr indent="0" lvl="0" marL="0" rtl="0" algn="l">
              <a:spcBef>
                <a:spcPts val="1200"/>
              </a:spcBef>
              <a:spcAft>
                <a:spcPts val="1200"/>
              </a:spcAft>
              <a:buNone/>
            </a:pPr>
            <a:r>
              <a:rPr lang="en"/>
              <a:t>We also give the user option to either write a string at the moment or upload a document with a sequence of strings.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Missing character function</a:t>
            </a:r>
            <a:endParaRPr/>
          </a:p>
        </p:txBody>
      </p:sp>
      <p:pic>
        <p:nvPicPr>
          <p:cNvPr id="105" name="Google Shape;105;p16"/>
          <p:cNvPicPr preferRelativeResize="0"/>
          <p:nvPr/>
        </p:nvPicPr>
        <p:blipFill>
          <a:blip r:embed="rId3">
            <a:alphaModFix/>
          </a:blip>
          <a:stretch>
            <a:fillRect/>
          </a:stretch>
        </p:blipFill>
        <p:spPr>
          <a:xfrm>
            <a:off x="1009650" y="2571800"/>
            <a:ext cx="2340425" cy="787875"/>
          </a:xfrm>
          <a:prstGeom prst="rect">
            <a:avLst/>
          </a:prstGeom>
          <a:noFill/>
          <a:ln>
            <a:noFill/>
          </a:ln>
        </p:spPr>
      </p:pic>
      <p:sp>
        <p:nvSpPr>
          <p:cNvPr id="106" name="Google Shape;106;p16"/>
          <p:cNvSpPr txBox="1"/>
          <p:nvPr/>
        </p:nvSpPr>
        <p:spPr>
          <a:xfrm>
            <a:off x="819150" y="2196200"/>
            <a:ext cx="3673800" cy="3756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accent1"/>
              </a:buClr>
              <a:buSzPts val="1300"/>
              <a:buFont typeface="Lato"/>
              <a:buAutoNum type="arabicPeriod"/>
            </a:pPr>
            <a:r>
              <a:rPr lang="en" sz="1300">
                <a:solidFill>
                  <a:schemeClr val="accent1"/>
                </a:solidFill>
                <a:latin typeface="Lato"/>
                <a:ea typeface="Lato"/>
                <a:cs typeface="Lato"/>
                <a:sym typeface="Lato"/>
              </a:rPr>
              <a:t>Append alphabet to the incorrect word</a:t>
            </a:r>
            <a:endParaRPr sz="1300">
              <a:solidFill>
                <a:schemeClr val="accent1"/>
              </a:solidFill>
              <a:latin typeface="Lato"/>
              <a:ea typeface="Lato"/>
              <a:cs typeface="Lato"/>
              <a:sym typeface="Lato"/>
            </a:endParaRPr>
          </a:p>
        </p:txBody>
      </p:sp>
      <p:sp>
        <p:nvSpPr>
          <p:cNvPr id="107" name="Google Shape;107;p16"/>
          <p:cNvSpPr txBox="1"/>
          <p:nvPr/>
        </p:nvSpPr>
        <p:spPr>
          <a:xfrm>
            <a:off x="4572000" y="2196200"/>
            <a:ext cx="3673800" cy="375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300">
                <a:solidFill>
                  <a:schemeClr val="accent1"/>
                </a:solidFill>
                <a:latin typeface="Lato"/>
                <a:ea typeface="Lato"/>
                <a:cs typeface="Lato"/>
                <a:sym typeface="Lato"/>
              </a:rPr>
              <a:t>2. Permute the alphabet to every position</a:t>
            </a:r>
            <a:endParaRPr sz="1300">
              <a:solidFill>
                <a:schemeClr val="accent1"/>
              </a:solidFill>
              <a:latin typeface="Lato"/>
              <a:ea typeface="Lato"/>
              <a:cs typeface="Lato"/>
              <a:sym typeface="Lato"/>
            </a:endParaRPr>
          </a:p>
        </p:txBody>
      </p:sp>
      <p:pic>
        <p:nvPicPr>
          <p:cNvPr id="108" name="Google Shape;108;p16"/>
          <p:cNvPicPr preferRelativeResize="0"/>
          <p:nvPr/>
        </p:nvPicPr>
        <p:blipFill>
          <a:blip r:embed="rId4">
            <a:alphaModFix/>
          </a:blip>
          <a:stretch>
            <a:fillRect/>
          </a:stretch>
        </p:blipFill>
        <p:spPr>
          <a:xfrm>
            <a:off x="5799350" y="2556163"/>
            <a:ext cx="1590675" cy="819150"/>
          </a:xfrm>
          <a:prstGeom prst="rect">
            <a:avLst/>
          </a:prstGeom>
          <a:noFill/>
          <a:ln>
            <a:noFill/>
          </a:ln>
        </p:spPr>
      </p:pic>
      <p:sp>
        <p:nvSpPr>
          <p:cNvPr id="109" name="Google Shape;109;p16"/>
          <p:cNvSpPr txBox="1"/>
          <p:nvPr/>
        </p:nvSpPr>
        <p:spPr>
          <a:xfrm>
            <a:off x="819150" y="3359675"/>
            <a:ext cx="5959800" cy="3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3.  Append every </a:t>
            </a:r>
            <a:r>
              <a:rPr lang="en" sz="1300">
                <a:solidFill>
                  <a:schemeClr val="accent1"/>
                </a:solidFill>
                <a:latin typeface="Lato"/>
                <a:ea typeface="Lato"/>
                <a:cs typeface="Lato"/>
                <a:sym typeface="Lato"/>
              </a:rPr>
              <a:t>alphabet</a:t>
            </a:r>
            <a:r>
              <a:rPr lang="en" sz="1300">
                <a:solidFill>
                  <a:schemeClr val="accent1"/>
                </a:solidFill>
                <a:latin typeface="Lato"/>
                <a:ea typeface="Lato"/>
                <a:cs typeface="Lato"/>
                <a:sym typeface="Lato"/>
              </a:rPr>
              <a:t> likewise and store the correct words within a list</a:t>
            </a:r>
            <a:endParaRPr sz="1300">
              <a:solidFill>
                <a:schemeClr val="accent1"/>
              </a:solidFill>
              <a:latin typeface="Lato"/>
              <a:ea typeface="Lato"/>
              <a:cs typeface="Lato"/>
              <a:sym typeface="Lato"/>
            </a:endParaRPr>
          </a:p>
        </p:txBody>
      </p:sp>
      <p:pic>
        <p:nvPicPr>
          <p:cNvPr id="110" name="Google Shape;110;p16"/>
          <p:cNvPicPr preferRelativeResize="0"/>
          <p:nvPr/>
        </p:nvPicPr>
        <p:blipFill>
          <a:blip r:embed="rId5">
            <a:alphaModFix/>
          </a:blip>
          <a:stretch>
            <a:fillRect/>
          </a:stretch>
        </p:blipFill>
        <p:spPr>
          <a:xfrm>
            <a:off x="1009650" y="3826325"/>
            <a:ext cx="1590675" cy="819150"/>
          </a:xfrm>
          <a:prstGeom prst="rect">
            <a:avLst/>
          </a:prstGeom>
          <a:noFill/>
          <a:ln>
            <a:noFill/>
          </a:ln>
        </p:spPr>
      </p:pic>
      <p:pic>
        <p:nvPicPr>
          <p:cNvPr id="111" name="Google Shape;111;p16"/>
          <p:cNvPicPr preferRelativeResize="0"/>
          <p:nvPr/>
        </p:nvPicPr>
        <p:blipFill>
          <a:blip r:embed="rId6">
            <a:alphaModFix/>
          </a:blip>
          <a:stretch>
            <a:fillRect/>
          </a:stretch>
        </p:blipFill>
        <p:spPr>
          <a:xfrm>
            <a:off x="4492950" y="3826325"/>
            <a:ext cx="1590675" cy="819150"/>
          </a:xfrm>
          <a:prstGeom prst="rect">
            <a:avLst/>
          </a:prstGeom>
          <a:noFill/>
          <a:ln>
            <a:noFill/>
          </a:ln>
        </p:spPr>
      </p:pic>
      <p:cxnSp>
        <p:nvCxnSpPr>
          <p:cNvPr id="112" name="Google Shape;112;p16"/>
          <p:cNvCxnSpPr>
            <a:stCxn id="110" idx="3"/>
            <a:endCxn id="111" idx="1"/>
          </p:cNvCxnSpPr>
          <p:nvPr/>
        </p:nvCxnSpPr>
        <p:spPr>
          <a:xfrm>
            <a:off x="2600325" y="4235900"/>
            <a:ext cx="18927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Extra character function</a:t>
            </a:r>
            <a:endParaRPr/>
          </a:p>
        </p:txBody>
      </p:sp>
      <p:pic>
        <p:nvPicPr>
          <p:cNvPr id="118" name="Google Shape;118;p17"/>
          <p:cNvPicPr preferRelativeResize="0"/>
          <p:nvPr/>
        </p:nvPicPr>
        <p:blipFill>
          <a:blip r:embed="rId3">
            <a:alphaModFix/>
          </a:blip>
          <a:stretch>
            <a:fillRect/>
          </a:stretch>
        </p:blipFill>
        <p:spPr>
          <a:xfrm>
            <a:off x="729450" y="2628900"/>
            <a:ext cx="1905000" cy="1428750"/>
          </a:xfrm>
          <a:prstGeom prst="rect">
            <a:avLst/>
          </a:prstGeom>
          <a:noFill/>
          <a:ln>
            <a:noFill/>
          </a:ln>
        </p:spPr>
      </p:pic>
      <p:sp>
        <p:nvSpPr>
          <p:cNvPr id="119" name="Google Shape;119;p17"/>
          <p:cNvSpPr txBox="1"/>
          <p:nvPr/>
        </p:nvSpPr>
        <p:spPr>
          <a:xfrm>
            <a:off x="819150" y="2196200"/>
            <a:ext cx="5959800" cy="3756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accent1"/>
              </a:buClr>
              <a:buSzPts val="1300"/>
              <a:buFont typeface="Lato"/>
              <a:buAutoNum type="arabicPeriod"/>
            </a:pPr>
            <a:r>
              <a:rPr lang="en" sz="1300">
                <a:solidFill>
                  <a:schemeClr val="accent1"/>
                </a:solidFill>
                <a:latin typeface="Lato"/>
                <a:ea typeface="Lato"/>
                <a:cs typeface="Lato"/>
                <a:sym typeface="Lato"/>
              </a:rPr>
              <a:t>Deleting every character of the word one by one to find the correct word</a:t>
            </a:r>
            <a:endParaRPr sz="1300">
              <a:solidFill>
                <a:schemeClr val="accent1"/>
              </a:solidFill>
              <a:latin typeface="Lato"/>
              <a:ea typeface="Lato"/>
              <a:cs typeface="Lato"/>
              <a:sym typeface="Lato"/>
            </a:endParaRPr>
          </a:p>
        </p:txBody>
      </p:sp>
      <p:pic>
        <p:nvPicPr>
          <p:cNvPr id="120" name="Google Shape;120;p17"/>
          <p:cNvPicPr preferRelativeResize="0"/>
          <p:nvPr/>
        </p:nvPicPr>
        <p:blipFill>
          <a:blip r:embed="rId4">
            <a:alphaModFix/>
          </a:blip>
          <a:stretch>
            <a:fillRect/>
          </a:stretch>
        </p:blipFill>
        <p:spPr>
          <a:xfrm>
            <a:off x="3322875" y="2628900"/>
            <a:ext cx="1905000" cy="1428750"/>
          </a:xfrm>
          <a:prstGeom prst="rect">
            <a:avLst/>
          </a:prstGeom>
          <a:noFill/>
          <a:ln>
            <a:noFill/>
          </a:ln>
        </p:spPr>
      </p:pic>
      <p:pic>
        <p:nvPicPr>
          <p:cNvPr id="121" name="Google Shape;121;p17"/>
          <p:cNvPicPr preferRelativeResize="0"/>
          <p:nvPr/>
        </p:nvPicPr>
        <p:blipFill>
          <a:blip r:embed="rId5">
            <a:alphaModFix/>
          </a:blip>
          <a:stretch>
            <a:fillRect/>
          </a:stretch>
        </p:blipFill>
        <p:spPr>
          <a:xfrm>
            <a:off x="5840100" y="2628900"/>
            <a:ext cx="1905000" cy="1428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Exchanged character function</a:t>
            </a:r>
            <a:endParaRPr/>
          </a:p>
        </p:txBody>
      </p:sp>
      <p:pic>
        <p:nvPicPr>
          <p:cNvPr id="127" name="Google Shape;127;p18"/>
          <p:cNvPicPr preferRelativeResize="0"/>
          <p:nvPr/>
        </p:nvPicPr>
        <p:blipFill>
          <a:blip r:embed="rId3">
            <a:alphaModFix/>
          </a:blip>
          <a:stretch>
            <a:fillRect/>
          </a:stretch>
        </p:blipFill>
        <p:spPr>
          <a:xfrm>
            <a:off x="669475" y="2914650"/>
            <a:ext cx="3537851" cy="1034450"/>
          </a:xfrm>
          <a:prstGeom prst="rect">
            <a:avLst/>
          </a:prstGeom>
          <a:noFill/>
          <a:ln>
            <a:noFill/>
          </a:ln>
        </p:spPr>
      </p:pic>
      <p:sp>
        <p:nvSpPr>
          <p:cNvPr id="128" name="Google Shape;128;p18"/>
          <p:cNvSpPr txBox="1"/>
          <p:nvPr/>
        </p:nvSpPr>
        <p:spPr>
          <a:xfrm>
            <a:off x="832750" y="2277825"/>
            <a:ext cx="7143900" cy="294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accent1"/>
              </a:buClr>
              <a:buSzPts val="1300"/>
              <a:buFont typeface="Lato"/>
              <a:buAutoNum type="arabicPeriod"/>
            </a:pPr>
            <a:r>
              <a:rPr lang="en" sz="1300">
                <a:solidFill>
                  <a:schemeClr val="accent1"/>
                </a:solidFill>
                <a:latin typeface="Lato"/>
                <a:ea typeface="Lato"/>
                <a:cs typeface="Lato"/>
                <a:sym typeface="Lato"/>
              </a:rPr>
              <a:t>Replace every character with all the alphabets and checking for correct words</a:t>
            </a:r>
            <a:endParaRPr sz="1300">
              <a:solidFill>
                <a:schemeClr val="accent1"/>
              </a:solidFill>
              <a:latin typeface="Lato"/>
              <a:ea typeface="Lato"/>
              <a:cs typeface="Lato"/>
              <a:sym typeface="Lato"/>
            </a:endParaRPr>
          </a:p>
        </p:txBody>
      </p:sp>
      <p:pic>
        <p:nvPicPr>
          <p:cNvPr id="129" name="Google Shape;129;p18"/>
          <p:cNvPicPr preferRelativeResize="0"/>
          <p:nvPr/>
        </p:nvPicPr>
        <p:blipFill>
          <a:blip r:embed="rId3">
            <a:alphaModFix/>
          </a:blip>
          <a:stretch>
            <a:fillRect/>
          </a:stretch>
        </p:blipFill>
        <p:spPr>
          <a:xfrm>
            <a:off x="5119000" y="2914650"/>
            <a:ext cx="3537882" cy="1034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Incorrect arrangement function</a:t>
            </a:r>
            <a:endParaRPr/>
          </a:p>
        </p:txBody>
      </p:sp>
      <p:pic>
        <p:nvPicPr>
          <p:cNvPr id="135" name="Google Shape;135;p19"/>
          <p:cNvPicPr preferRelativeResize="0"/>
          <p:nvPr/>
        </p:nvPicPr>
        <p:blipFill>
          <a:blip r:embed="rId3">
            <a:alphaModFix/>
          </a:blip>
          <a:stretch>
            <a:fillRect/>
          </a:stretch>
        </p:blipFill>
        <p:spPr>
          <a:xfrm>
            <a:off x="729450" y="2452000"/>
            <a:ext cx="3314700" cy="1428750"/>
          </a:xfrm>
          <a:prstGeom prst="rect">
            <a:avLst/>
          </a:prstGeom>
          <a:noFill/>
          <a:ln>
            <a:noFill/>
          </a:ln>
        </p:spPr>
      </p:pic>
      <p:pic>
        <p:nvPicPr>
          <p:cNvPr id="136" name="Google Shape;136;p19"/>
          <p:cNvPicPr preferRelativeResize="0"/>
          <p:nvPr/>
        </p:nvPicPr>
        <p:blipFill>
          <a:blip r:embed="rId4">
            <a:alphaModFix/>
          </a:blip>
          <a:stretch>
            <a:fillRect/>
          </a:stretch>
        </p:blipFill>
        <p:spPr>
          <a:xfrm>
            <a:off x="5103450" y="2427500"/>
            <a:ext cx="3314700" cy="1428750"/>
          </a:xfrm>
          <a:prstGeom prst="rect">
            <a:avLst/>
          </a:prstGeom>
          <a:noFill/>
          <a:ln>
            <a:noFill/>
          </a:ln>
        </p:spPr>
      </p:pic>
      <p:sp>
        <p:nvSpPr>
          <p:cNvPr id="137" name="Google Shape;137;p19"/>
          <p:cNvSpPr txBox="1"/>
          <p:nvPr/>
        </p:nvSpPr>
        <p:spPr>
          <a:xfrm>
            <a:off x="941625" y="1992075"/>
            <a:ext cx="7361400" cy="4353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accent1"/>
              </a:buClr>
              <a:buSzPts val="1300"/>
              <a:buFont typeface="Lato"/>
              <a:buAutoNum type="arabicPeriod"/>
            </a:pPr>
            <a:r>
              <a:rPr lang="en" sz="1300">
                <a:solidFill>
                  <a:schemeClr val="accent1"/>
                </a:solidFill>
                <a:latin typeface="Lato"/>
                <a:ea typeface="Lato"/>
                <a:cs typeface="Lato"/>
                <a:sym typeface="Lato"/>
              </a:rPr>
              <a:t>Permute the string to create all the possible combination of the </a:t>
            </a:r>
            <a:r>
              <a:rPr lang="en" sz="1300">
                <a:solidFill>
                  <a:schemeClr val="accent1"/>
                </a:solidFill>
                <a:latin typeface="Lato"/>
                <a:ea typeface="Lato"/>
                <a:cs typeface="Lato"/>
                <a:sym typeface="Lato"/>
              </a:rPr>
              <a:t>incorrect</a:t>
            </a:r>
            <a:r>
              <a:rPr lang="en" sz="1300">
                <a:solidFill>
                  <a:schemeClr val="accent1"/>
                </a:solidFill>
                <a:latin typeface="Lato"/>
                <a:ea typeface="Lato"/>
                <a:cs typeface="Lato"/>
                <a:sym typeface="Lato"/>
              </a:rPr>
              <a:t> word</a:t>
            </a:r>
            <a:endParaRPr sz="1300">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structures we used and why?</a:t>
            </a:r>
            <a:endParaRPr/>
          </a:p>
        </p:txBody>
      </p:sp>
      <p:sp>
        <p:nvSpPr>
          <p:cNvPr id="143" name="Google Shape;143;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1. Trie:  Used for storing the dictionary because when compared to hash tables, Trie is more</a:t>
            </a:r>
            <a:endParaRPr/>
          </a:p>
          <a:p>
            <a:pPr indent="0" lvl="0" marL="0" rtl="0" algn="l">
              <a:spcBef>
                <a:spcPts val="1200"/>
              </a:spcBef>
              <a:spcAft>
                <a:spcPts val="0"/>
              </a:spcAft>
              <a:buNone/>
            </a:pPr>
            <a:r>
              <a:rPr lang="en"/>
              <a:t>efficient in storing and searching for elements stored within.</a:t>
            </a:r>
            <a:endParaRPr/>
          </a:p>
          <a:p>
            <a:pPr indent="0" lvl="0" marL="0" rtl="0" algn="l">
              <a:spcBef>
                <a:spcPts val="1200"/>
              </a:spcBef>
              <a:spcAft>
                <a:spcPts val="0"/>
              </a:spcAft>
              <a:buNone/>
            </a:pPr>
            <a:r>
              <a:rPr lang="en"/>
              <a:t>2. Queue :We used Queue because insertion in queue is easy and it works on first in first out</a:t>
            </a:r>
            <a:endParaRPr/>
          </a:p>
          <a:p>
            <a:pPr indent="0" lvl="0" marL="0" rtl="0" algn="l">
              <a:spcBef>
                <a:spcPts val="1200"/>
              </a:spcBef>
              <a:spcAft>
                <a:spcPts val="0"/>
              </a:spcAft>
              <a:buNone/>
            </a:pPr>
            <a:r>
              <a:rPr lang="en"/>
              <a:t>which tackles the problem of string reversal.</a:t>
            </a:r>
            <a:endParaRPr/>
          </a:p>
          <a:p>
            <a:pPr indent="0" lvl="0" marL="0" rtl="0" algn="l">
              <a:spcBef>
                <a:spcPts val="1200"/>
              </a:spcBef>
              <a:spcAft>
                <a:spcPts val="0"/>
              </a:spcAft>
              <a:buNone/>
            </a:pPr>
            <a:r>
              <a:rPr lang="en"/>
              <a:t>3. Doubly linked list:  Used to store correct spelling of incorrect words as searching and</a:t>
            </a:r>
            <a:endParaRPr/>
          </a:p>
          <a:p>
            <a:pPr indent="0" lvl="0" marL="0" rtl="0" algn="l">
              <a:spcBef>
                <a:spcPts val="1200"/>
              </a:spcBef>
              <a:spcAft>
                <a:spcPts val="0"/>
              </a:spcAft>
              <a:buNone/>
            </a:pPr>
            <a:r>
              <a:rPr lang="en"/>
              <a:t>retrieving data within a given link is more efficient than other linear data structures.</a:t>
            </a:r>
            <a:endParaRPr/>
          </a:p>
          <a:p>
            <a:pPr indent="0" lvl="0" marL="0" rtl="0" algn="l">
              <a:spcBef>
                <a:spcPts val="1200"/>
              </a:spcBef>
              <a:spcAft>
                <a:spcPts val="1200"/>
              </a:spcAft>
              <a:buNone/>
            </a:pPr>
            <a:r>
              <a:t/>
            </a:r>
            <a:endParaRPr/>
          </a:p>
        </p:txBody>
      </p:sp>
      <p:pic>
        <p:nvPicPr>
          <p:cNvPr id="144" name="Google Shape;144;p20"/>
          <p:cNvPicPr preferRelativeResize="0"/>
          <p:nvPr/>
        </p:nvPicPr>
        <p:blipFill>
          <a:blip r:embed="rId3">
            <a:alphaModFix/>
          </a:blip>
          <a:stretch>
            <a:fillRect/>
          </a:stretch>
        </p:blipFill>
        <p:spPr>
          <a:xfrm>
            <a:off x="6390849" y="2119200"/>
            <a:ext cx="2614300" cy="1714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Time complexities</a:t>
            </a:r>
            <a:endParaRPr/>
          </a:p>
        </p:txBody>
      </p:sp>
      <p:sp>
        <p:nvSpPr>
          <p:cNvPr id="150" name="Google Shape;150;p21"/>
          <p:cNvSpPr txBox="1"/>
          <p:nvPr>
            <p:ph idx="1" type="body"/>
          </p:nvPr>
        </p:nvSpPr>
        <p:spPr>
          <a:xfrm>
            <a:off x="729450" y="2078875"/>
            <a:ext cx="7688700" cy="298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Trie data structure: </a:t>
            </a:r>
            <a:endParaRPr/>
          </a:p>
          <a:p>
            <a:pPr indent="-311150" lvl="0" marL="914400" rtl="0" algn="l">
              <a:spcBef>
                <a:spcPts val="1200"/>
              </a:spcBef>
              <a:spcAft>
                <a:spcPts val="0"/>
              </a:spcAft>
              <a:buSzPts val="1300"/>
              <a:buChar char="●"/>
            </a:pPr>
            <a:r>
              <a:rPr lang="en"/>
              <a:t>Insert function - O(logn)</a:t>
            </a:r>
            <a:endParaRPr/>
          </a:p>
          <a:p>
            <a:pPr indent="-311150" lvl="0" marL="914400" rtl="0" algn="l">
              <a:spcBef>
                <a:spcPts val="0"/>
              </a:spcBef>
              <a:spcAft>
                <a:spcPts val="0"/>
              </a:spcAft>
              <a:buSzPts val="1300"/>
              <a:buChar char="●"/>
            </a:pPr>
            <a:r>
              <a:rPr lang="en"/>
              <a:t>Search </a:t>
            </a:r>
            <a:r>
              <a:rPr lang="en"/>
              <a:t>function</a:t>
            </a:r>
            <a:r>
              <a:rPr lang="en"/>
              <a:t> - O(k), k is length of the biggest word</a:t>
            </a:r>
            <a:endParaRPr/>
          </a:p>
          <a:p>
            <a:pPr indent="0" lvl="0" marL="0" rtl="0" algn="l">
              <a:spcBef>
                <a:spcPts val="1200"/>
              </a:spcBef>
              <a:spcAft>
                <a:spcPts val="0"/>
              </a:spcAft>
              <a:buNone/>
            </a:pPr>
            <a:r>
              <a:rPr lang="en"/>
              <a:t>Missing character function - O(nlogn)</a:t>
            </a:r>
            <a:endParaRPr/>
          </a:p>
          <a:p>
            <a:pPr indent="0" lvl="0" marL="0" rtl="0" algn="l">
              <a:spcBef>
                <a:spcPts val="1200"/>
              </a:spcBef>
              <a:spcAft>
                <a:spcPts val="0"/>
              </a:spcAft>
              <a:buNone/>
            </a:pPr>
            <a:r>
              <a:rPr lang="en"/>
              <a:t>Extra character function - O(nlogn)</a:t>
            </a:r>
            <a:endParaRPr/>
          </a:p>
          <a:p>
            <a:pPr indent="0" lvl="0" marL="0" rtl="0" algn="l">
              <a:spcBef>
                <a:spcPts val="1200"/>
              </a:spcBef>
              <a:spcAft>
                <a:spcPts val="0"/>
              </a:spcAft>
              <a:buNone/>
            </a:pPr>
            <a:r>
              <a:rPr lang="en"/>
              <a:t>Incorrect arrangement function -  O(n! logn)</a:t>
            </a:r>
            <a:endParaRPr/>
          </a:p>
          <a:p>
            <a:pPr indent="0" lvl="0" marL="0" rtl="0" algn="l">
              <a:spcBef>
                <a:spcPts val="1200"/>
              </a:spcBef>
              <a:spcAft>
                <a:spcPts val="1200"/>
              </a:spcAft>
              <a:buNone/>
            </a:pPr>
            <a:r>
              <a:rPr lang="en"/>
              <a:t>Exchanged character function - O(nlogn)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Space complexities</a:t>
            </a:r>
            <a:endParaRPr/>
          </a:p>
        </p:txBody>
      </p:sp>
      <p:sp>
        <p:nvSpPr>
          <p:cNvPr id="156" name="Google Shape;156;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Missing character function - O(N)</a:t>
            </a:r>
            <a:endParaRPr/>
          </a:p>
          <a:p>
            <a:pPr indent="0" lvl="0" marL="0" rtl="0" algn="l">
              <a:spcBef>
                <a:spcPts val="1200"/>
              </a:spcBef>
              <a:spcAft>
                <a:spcPts val="0"/>
              </a:spcAft>
              <a:buNone/>
            </a:pPr>
            <a:r>
              <a:rPr lang="en"/>
              <a:t>Extra character function - O(N)</a:t>
            </a:r>
            <a:endParaRPr/>
          </a:p>
          <a:p>
            <a:pPr indent="0" lvl="0" marL="0" rtl="0" algn="l">
              <a:spcBef>
                <a:spcPts val="1200"/>
              </a:spcBef>
              <a:spcAft>
                <a:spcPts val="0"/>
              </a:spcAft>
              <a:buNone/>
            </a:pPr>
            <a:r>
              <a:rPr lang="en"/>
              <a:t>Incorrect arrangement function -  O(N)</a:t>
            </a:r>
            <a:endParaRPr/>
          </a:p>
          <a:p>
            <a:pPr indent="0" lvl="0" marL="0" rtl="0" algn="l">
              <a:spcBef>
                <a:spcPts val="1200"/>
              </a:spcBef>
              <a:spcAft>
                <a:spcPts val="0"/>
              </a:spcAft>
              <a:buNone/>
            </a:pPr>
            <a:r>
              <a:rPr lang="en"/>
              <a:t>Exchanged character function - O(N)</a:t>
            </a:r>
            <a:endParaRPr/>
          </a:p>
          <a:p>
            <a:pPr indent="0" lvl="0" marL="0" rtl="0" algn="l">
              <a:spcBef>
                <a:spcPts val="1200"/>
              </a:spcBef>
              <a:spcAft>
                <a:spcPts val="1200"/>
              </a:spcAft>
              <a:buNone/>
            </a:pPr>
            <a:r>
              <a:rPr lang="en"/>
              <a:t>N is the length of the input string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Video recording of the code with voiceover</a:t>
            </a:r>
            <a:endParaRPr/>
          </a:p>
        </p:txBody>
      </p:sp>
      <p:pic>
        <p:nvPicPr>
          <p:cNvPr id="162" name="Google Shape;162;p23" title="202301429_capstone - Made with Clipchamp_1714857632087.mp4">
            <a:hlinkClick r:id="rId3"/>
          </p:cNvPr>
          <p:cNvPicPr preferRelativeResize="0"/>
          <p:nvPr/>
        </p:nvPicPr>
        <p:blipFill>
          <a:blip r:embed="rId4">
            <a:alphaModFix/>
          </a:blip>
          <a:stretch>
            <a:fillRect/>
          </a:stretch>
        </p:blipFill>
        <p:spPr>
          <a:xfrm>
            <a:off x="1752600" y="2006250"/>
            <a:ext cx="5306400" cy="2984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